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Правила ФСП разрешают удалить лишние карточки, если участник один. Перед сдачей вписать ник, телефон и город.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История короткая: один разработчик, один кейс из практики, одна главная инженерная проблема — утечки в тесте.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HandCheck: коротко о продукте. Категорию даёт тест, приглашение даёт работодатель, контакты — только согласие обеих сторон.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Главное: мы продаём не вакансии, а проверенных людей. Уникальность — категория только после теста плюс измеренная устойчивость форм.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Техническая суть — архитектура и честность замера. Маркетинговая — выгода для обеих сторон и отсутствие сливов.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продуктовая идея, справа — путь данных от опроса до согласия. Ниже — контур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Стек без экзотики: всё, что нужно для честного теста и предсказуемого прод-окружения.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колода решений, справа подборка по категории. Оба экрана — рабочий путь, а не витрина.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Кандидат видит прогресс по батарее и приглашения с вилкой. Контакты работодателя появляются только после согласия.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шагов от регистрации до приглашения. Категория появляется только на третьем шаге и только из результатов теста.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пункт закрыт проверкой в автотестах и скриптовом аудите: это поведение API, а не текст политики.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Числа из повторяемого прогона assessment-metrics.js, а не из презентации. Порог эквивалентности форм — 0.15.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Финал: что уже работает, что честно не сделано и куда смотреть.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wrap="square"/>
          <a:lstStyle/>
          <a:p>
            <a:pPr marL="268288" indent="0">
              <a:spcAft>
                <a:spcPts val="400"/>
              </a:spcAft>
              <a:buNone/>
              <a:defRPr sz="4400" b="1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</a:rPr>
              <a:t>HandCheck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 wrap="square">
            <a:normAutofit lnSpcReduction="10000"/>
          </a:bodyPr>
          <a:lstStyle/>
          <a:p>
            <a:pPr marL="271463" indent="-3175">
              <a:spcAft>
                <a:spcPts val="200"/>
              </a:spcAft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Категорию даёт тест. Приглашение даёт работодатель. Контакты — только согласие.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Команда «БАС» · Санкт-Петербург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Font typeface="Wingdings" pitchFamily="2" charset="2"/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Это не доска вакансий: категорию ставит только пройденная батарея, а устойчивость параллельных форм A/B измерена, а не заявлена.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Капитан: Басков Константин, разработчик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Кол-во участников: 2 человека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Краткое описание: оба занимаемся разработкой ПО и внедрением инноваций;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решили участвовать, потому что интересно поработать над комплексной системой.</a:t>
            </a:r>
          </a:p>
          <a:p>
            <a:pPr>
              <a:spcAft>
                <a:spcPts val="200"/>
              </a:spcAft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Город и регион: Санкт-Петербург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200" b="1">
                <a:solidFill>
                  <a:srgbClr val="520978"/>
                </a:solidFill>
              </a:defRPr>
            </a:pPr>
            <a:r>
              <a:rPr sz="2200" b="1">
                <a:solidFill>
                  <a:srgbClr val="520978"/>
                </a:solidFill>
              </a:rPr>
              <a:t>Категорию даёт батарея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Font typeface="Wingdings" pitchFamily="2" charset="2"/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Кандидат проходит опрос и батарею — получает категорию «специализация × грейд». Работодатель ищет по категории и сам зовёт с вилкой ЗП. Контакты открываются только после согласия.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 descr="team-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703320" y="1554480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Команда «БАС»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886200" y="4206240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Разработчик, капитан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Telegram: @KonstantBas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Тел.: +7 918 318-47-80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работы: фриланс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3886200" y="3657600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Константин Басков</a:t>
            </a:r>
          </a:p>
        </p:txBody>
      </p:sp>
      <p:pic>
        <p:nvPicPr>
          <p:cNvPr id="19" name="Picture 18" descr="avatar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828800"/>
            <a:ext cx="1737360" cy="1554480"/>
          </a:xfrm>
          <a:prstGeom prst="rect">
            <a:avLst/>
          </a:prstGeom>
        </p:spPr>
      </p:pic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6355080" y="1554480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6537960" y="3657600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Дмитрий Манаков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37960" y="4206240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Продуктовый менеджер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Telegram: @ddmanakov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Тел.: +7 960 000-15-17</a:t>
            </a:r>
          </a:p>
          <a:p>
            <a:pPr>
              <a:spcAft>
                <a:spcPts val="200"/>
              </a:spcAft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работы: фриланс</a:t>
            </a:r>
          </a:p>
        </p:txBody>
      </p:sp>
      <p:pic>
        <p:nvPicPr>
          <p:cNvPr id="20" name="Picture 19" descr="avata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828800"/>
            <a:ext cx="173736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Краткая история команды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Вместе работаем над разными продуктами автоматизации: от мониторинга строительных площадок до систем подбора персонала. Оба понимаем, что в найме больше всего времени уходит на ручной отбор, поэтому захотели проверить идею на реальном коде.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Каждое изменение проверялось автоматически: node --test, процедуры валидации теста, подбора и приватности плюс сквозной аудит из 41 проверки.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Самая сложная часть — устойчивость теста. Отказались от генерации заданий под каждого кандидата: банк с двумя параллельными формами, серверный дедлайн и кулдаун на смену категории.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 algn="r">
              <a:spcAft>
                <a:spcPts val="400"/>
              </a:spcAft>
              <a:buNone/>
              <a:defRPr sz="1000">
                <a:solidFill>
                  <a:srgbClr val="8A83D1"/>
                </a:solidFill>
              </a:defRPr>
            </a:pPr>
            <a:r>
              <a:rPr sz="1000">
                <a:solidFill>
                  <a:srgbClr val="8A83D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Node.js 20 + Express + SQLite, 17 доменных модулей; UI без SPA-фреймворка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Банк из 162 заданий: 9 батарей (backend / frontend / QA × junior / middle / senior)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Серверные дедлайны, черновики, телеметрия попыток, cutoff 0.55 / 0.68 / 0.78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Подбор: категория → rank = 0.60·тест + 0.15·мотивация + 0.10·ФСП + 0.15·домен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MCP-сервер /mcp: ИИ-клиенты читают и меняют данные платформы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Рекрутер перестаёт разбирать сотни анкет: получает готовую категорию с обоснованием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Кандидат не откликается вслепую — инициатива у работодателя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Участники соревновательного движения конвертируют навыки в оффер, а не в строчку резюме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Контакты скрыты до accept: меньше спама, выше вовлечённость обеих сторон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КОНЦЕПЦИЯ И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Концепция и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9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Концепция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Тест вместо резюме. Категория = специализация × грейд, ставится только после батареи.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Банк заданий. 162 задания в 9 батареях, обе формы A/B в каждой ячейке.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Честная валидация. Δ оценок форм A/B = 0.00 при пороге 0.15; сильный ответ 0.734, слабый 0.000.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Подбор по категории. Потребность → подборка с объяснением; фильтры только сужают выдачу.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Приватность по умолчанию. Контакты скрыты до согласия обеих сторон.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481328"/>
            <a:ext cx="5394960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9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Архитектура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01 · Опрос и категория — специализация, заявленный грейд, согласие на обработку данных.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02 · Батарея — 8 быстрых заданий и мини-проект, дедлайн, черновик, телеметрия.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03 · Подбор и приглашение — потребность работодателя → категория → колода → вилка ЗП.</a:t>
            </a:r>
          </a:p>
          <a:p>
            <a:pPr>
              <a:spcAft>
                <a:spcPts val="900"/>
              </a:spcAft>
              <a:buNone/>
            </a:pPr>
            <a:r>
              <a:rPr sz="1150">
                <a:solidFill>
                  <a:srgbClr val="1C1D22"/>
                </a:solidFill>
                <a:latin typeface="Manrope"/>
              </a:rPr>
              <a:t>04 · Согласие — контакты открываются только после accept.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596128"/>
            <a:ext cx="11183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ctr">
              <a:spcAft>
                <a:spcPts val="400"/>
              </a:spcAft>
              <a:defRPr sz="1050" b="1">
                <a:solidFill>
                  <a:srgbClr val="520978"/>
                </a:solidFill>
              </a:defRPr>
              <a:buNone/>
            </a:pPr>
            <a:r>
              <a:rPr sz="1050" b="1">
                <a:solidFill>
                  <a:srgbClr val="520978"/>
                </a:solidFill>
              </a:rPr>
              <a:t>Модульный монолит: 17 доменов · SQLite в одном volume · сборка контейнера и деплой одной командой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Технологии и 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11183112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ctr">
              <a:spcAft>
                <a:spcPts val="400"/>
              </a:spcAft>
              <a:defRPr sz="1150" b="1">
                <a:solidFill>
                  <a:srgbClr val="520978"/>
                </a:solidFill>
              </a:defRPr>
              <a:buNone/>
            </a:pPr>
            <a:r>
              <a:rPr sz="1150" b="1">
                <a:solidFill>
                  <a:srgbClr val="520978"/>
                </a:solidFill>
              </a:rPr>
              <a:t>Node.js 20 · Express · SQLite (better-sqlite3, WAL) · WebSocket · MCP SDK · Zod · Docker Compose · Caddy · GitHub Actions · OpenAPI · Playwright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31136"/>
            <a:ext cx="3587496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8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Бэкенд и данные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Модульный монолит: 17 доменных модулей, общий createApp() и тонкий bootstrap.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SQLite в одном volume, сессии в БД, журнал шагов теста.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WebSocket-сигналинг звонков, запись и авто-сводка разговора.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MCP-сервер /mcp: персональные токены hc_ и области read/write.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Zod-схемы на входе API, контракт описан в openapi.yaml.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0728" y="2231136"/>
            <a:ext cx="3587496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8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Продукт и интерфейс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Серверные страницы без SPA-фреймворка: быстрый старт и честный вес UI.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13 экранов двух кабинетов: кандидат и работодатель.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Шрифты Manrope и Onest, тёмные кабинеты, мобильная вёрстка от 390 px.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Демо-вход для показа без регистрации.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LLM только на черновиках и сводках — оценку ставит банк заданий.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8536" y="2231136"/>
            <a:ext cx="3587496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8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Инфраструктура и контроль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Docker Compose и Caddy на handcheck.baski.pro, секреты вне git.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Деплой из main через self-hosted runner с проверкой коммита.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node --test для регрессий: сценарии теста, приглашений и записи звонка.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npm run validate: качество теста, честность подбора и приватность.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Скриптовый аудит функций — 41 проверка без сети.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ПРИМЕР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Пример работы. Кабинет работодателя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3986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employer-deck.png"/>
          <p:cNvPicPr>
            <a:picLocks noChangeAspect="1"/>
          </p:cNvPicPr>
          <p:nvPr/>
        </p:nvPicPr>
        <p:blipFill>
          <a:blip r:embed="rId3"/>
          <a:srcRect t="9406" b="9406"/>
          <a:stretch>
            <a:fillRect/>
          </a:stretch>
        </p:blipFill>
        <p:spPr>
          <a:xfrm>
            <a:off x="704088" y="1682496"/>
            <a:ext cx="5175503" cy="2626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4443984"/>
            <a:ext cx="5175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 b="1">
                <a:solidFill>
                  <a:srgbClr val="520978"/>
                </a:solidFill>
              </a:defRPr>
            </a:pPr>
            <a:r>
              <a:rPr sz="900" b="1">
                <a:solidFill>
                  <a:srgbClr val="520978"/>
                </a:solidFill>
              </a:rPr>
              <a:t>ОСНОВНАЯ 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681728"/>
            <a:ext cx="51755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Колода кандидатов: решение в один тап — принять с вилкой ЗП, отложить или отказаться. Повторное приглашение после отказа блокируется.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81328"/>
            <a:ext cx="5394960" cy="3986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-employer-candidates.png"/>
          <p:cNvPicPr>
            <a:picLocks noChangeAspect="1"/>
          </p:cNvPicPr>
          <p:nvPr/>
        </p:nvPicPr>
        <p:blipFill>
          <a:blip r:embed="rId4"/>
          <a:srcRect t="11706" b="11706"/>
          <a:stretch>
            <a:fillRect/>
          </a:stretch>
        </p:blipFill>
        <p:spPr>
          <a:xfrm>
            <a:off x="6492240" y="1682496"/>
            <a:ext cx="4992624" cy="26261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4443984"/>
            <a:ext cx="4992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 b="1">
                <a:solidFill>
                  <a:srgbClr val="520978"/>
                </a:solidFill>
              </a:defRPr>
            </a:pPr>
            <a:r>
              <a:rPr sz="900" b="1">
                <a:solidFill>
                  <a:srgbClr val="520978"/>
                </a:solidFill>
              </a:rPr>
              <a:t>ОСНОВНАЯ ИДЕЯ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681728"/>
            <a:ext cx="49926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Подборка по категории «backend × middle»: стек, участие в ФСП, поиск и статус сужают выдачу, но не подменяют её.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ПРИМЕР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Пример работы. Кабинет кандидата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577840" cy="3986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candidate-today.png"/>
          <p:cNvPicPr>
            <a:picLocks noChangeAspect="1"/>
          </p:cNvPicPr>
          <p:nvPr/>
        </p:nvPicPr>
        <p:blipFill>
          <a:blip r:embed="rId3"/>
          <a:srcRect t="9406" b="9406"/>
          <a:stretch>
            <a:fillRect/>
          </a:stretch>
        </p:blipFill>
        <p:spPr>
          <a:xfrm>
            <a:off x="704088" y="1682496"/>
            <a:ext cx="5175503" cy="2626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" y="4443984"/>
            <a:ext cx="51755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 b="1">
                <a:solidFill>
                  <a:srgbClr val="520978"/>
                </a:solidFill>
              </a:defRPr>
            </a:pPr>
            <a:r>
              <a:rPr sz="900" b="1">
                <a:solidFill>
                  <a:srgbClr val="520978"/>
                </a:solidFill>
              </a:rPr>
              <a:t>ОСНОВНАЯ ИДЕЯ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681728"/>
            <a:ext cx="51755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Сегодня: прогресс по батарее, подтверждённая категория и активные приглашения — без резюме и без публичного профиля.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81328"/>
            <a:ext cx="5394960" cy="3986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candidate-invitations.png"/>
          <p:cNvPicPr>
            <a:picLocks noChangeAspect="1"/>
          </p:cNvPicPr>
          <p:nvPr/>
        </p:nvPicPr>
        <p:blipFill>
          <a:blip r:embed="rId4"/>
          <a:srcRect t="7919" b="7919"/>
          <a:stretch>
            <a:fillRect/>
          </a:stretch>
        </p:blipFill>
        <p:spPr>
          <a:xfrm>
            <a:off x="6492240" y="1682496"/>
            <a:ext cx="4992624" cy="26261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4443984"/>
            <a:ext cx="4992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 b="1">
                <a:solidFill>
                  <a:srgbClr val="520978"/>
                </a:solidFill>
              </a:defRPr>
            </a:pPr>
            <a:r>
              <a:rPr sz="900" b="1">
                <a:solidFill>
                  <a:srgbClr val="520978"/>
                </a:solidFill>
              </a:rPr>
              <a:t>ОСНОВНАЯ ИДЕЯ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681728"/>
            <a:ext cx="49926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50">
                <a:solidFill>
                  <a:srgbClr val="1C1D22"/>
                </a:solidFill>
              </a:defRPr>
            </a:pPr>
            <a:r>
              <a:rPr sz="1050">
                <a:solidFill>
                  <a:srgbClr val="1C1D22"/>
                </a:solidFill>
              </a:rPr>
              <a:t>Приглашение: вилка ЗП, понятный статус и ответ в один тап. Телефон и почта открываются только после согласия.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587496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01 · Опрос кандидата</a:t>
            </a:r>
          </a:p>
          <a:p>
            <a:pPr>
              <a:spcAft>
                <a:spcPts val="4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Специализация и заявленный грейд, согласие на обработку данных.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0728" y="1481328"/>
            <a:ext cx="3587496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02 · Старт батареи</a:t>
            </a:r>
          </a:p>
          <a:p>
            <a:pPr>
              <a:spcAft>
                <a:spcPts val="4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8 быстрых заданий и мини-проект, форма A или B на выбор сервера.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8536" y="1481328"/>
            <a:ext cx="3587496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03 · Честный замер</a:t>
            </a:r>
          </a:p>
          <a:p>
            <a:pPr>
              <a:spcAft>
                <a:spcPts val="4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Серверный дедлайн, черновик ответов и телеметрия каждого шага.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01568"/>
            <a:ext cx="3587496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04 · Cutoff по грейду</a:t>
            </a:r>
          </a:p>
          <a:p>
            <a:pPr>
              <a:spcAft>
                <a:spcPts val="4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junior 0.55 · middle 0.68 · senior 0.78 — порог подтверждения навыка.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0728" y="3401568"/>
            <a:ext cx="3587496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05 · Категория</a:t>
            </a:r>
          </a:p>
          <a:p>
            <a:pPr>
              <a:spcAft>
                <a:spcPts val="4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Специализация × грейд, cooldown 30 дней на смену, понижение только пересдачей.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8536" y="3401568"/>
            <a:ext cx="3587496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06 · Приглашение</a:t>
            </a:r>
          </a:p>
          <a:p>
            <a:pPr>
              <a:spcAft>
                <a:spcPts val="4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Работодатель зовёт с вилкой ЗП, контакты — после согласия обеих сторон.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96128"/>
            <a:ext cx="11183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ctr">
              <a:spcAft>
                <a:spcPts val="400"/>
              </a:spcAft>
              <a:defRPr sz="1050" b="1">
                <a:solidFill>
                  <a:srgbClr val="520978"/>
                </a:solidFill>
              </a:defRPr>
              <a:buNone/>
            </a:pPr>
            <a:r>
              <a:rPr sz="1050" b="1">
                <a:solidFill>
                  <a:srgbClr val="520978"/>
                </a:solidFill>
              </a:rPr>
              <a:t>Пока батарея не пройдена, подборка у работодателя пустая — это и есть механика, а не фильтр поверх анкет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ПРИВАТНОСТЬ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Приватность как механика, а не как обещание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58749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512064" tIns="182880" bIns="146304"/>
          <a:lstStyle/>
          <a:p>
            <a:pPr algn="l">
              <a:spcAft>
                <a:spcPts val="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Согласие 152-ФЗ</a:t>
            </a:r>
          </a:p>
          <a:p>
            <a:pPr>
              <a:spcAft>
                <a:spcPts val="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Отдельное согласие на обработку данных фиксируется до старта теста.</a:t>
            </a:r>
          </a:p>
        </p:txBody>
      </p:sp>
      <p:sp>
        <p:nvSpPr>
          <p:cNvPr id="7" name="Oval 6"/>
          <p:cNvSpPr/>
          <p:nvPr/>
        </p:nvSpPr>
        <p:spPr>
          <a:xfrm>
            <a:off x="3578352" y="16642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0728" y="1481328"/>
            <a:ext cx="358749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512064" tIns="182880" bIns="146304"/>
          <a:lstStyle/>
          <a:p>
            <a:pPr algn="l">
              <a:spcAft>
                <a:spcPts val="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Разделение ролей</a:t>
            </a:r>
          </a:p>
          <a:p>
            <a:pPr>
              <a:spcAft>
                <a:spcPts val="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Кандидат и работодатель видят только свои сущности и чужие ответы — нет.</a:t>
            </a:r>
          </a:p>
        </p:txBody>
      </p:sp>
      <p:sp>
        <p:nvSpPr>
          <p:cNvPr id="9" name="Oval 8"/>
          <p:cNvSpPr/>
          <p:nvPr/>
        </p:nvSpPr>
        <p:spPr>
          <a:xfrm>
            <a:off x="7376160" y="16642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8536" y="1481328"/>
            <a:ext cx="358749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512064" tIns="182880" bIns="146304"/>
          <a:lstStyle/>
          <a:p>
            <a:pPr algn="l">
              <a:spcAft>
                <a:spcPts val="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Контакты скрыты</a:t>
            </a:r>
          </a:p>
          <a:p>
            <a:pPr>
              <a:spcAft>
                <a:spcPts val="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До согласия доступ к контактам даёт 403, в JSON приглашения нет телефона и почты.</a:t>
            </a:r>
          </a:p>
        </p:txBody>
      </p:sp>
      <p:sp>
        <p:nvSpPr>
          <p:cNvPr id="11" name="Oval 10"/>
          <p:cNvSpPr/>
          <p:nvPr/>
        </p:nvSpPr>
        <p:spPr>
          <a:xfrm>
            <a:off x="11173968" y="16642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29584"/>
            <a:ext cx="358749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512064" tIns="182880" bIns="146304"/>
          <a:lstStyle/>
          <a:p>
            <a:pPr algn="l">
              <a:spcAft>
                <a:spcPts val="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Раскрытие по согласию</a:t>
            </a:r>
          </a:p>
          <a:p>
            <a:pPr>
              <a:spcAft>
                <a:spcPts val="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Контакты появляются после accept и только у двух сторон переписки.</a:t>
            </a:r>
          </a:p>
        </p:txBody>
      </p:sp>
      <p:sp>
        <p:nvSpPr>
          <p:cNvPr id="13" name="Oval 12"/>
          <p:cNvSpPr/>
          <p:nvPr/>
        </p:nvSpPr>
        <p:spPr>
          <a:xfrm>
            <a:off x="3578352" y="3712464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0728" y="3529584"/>
            <a:ext cx="358749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512064" tIns="182880" bIns="146304"/>
          <a:lstStyle/>
          <a:p>
            <a:pPr algn="l">
              <a:spcAft>
                <a:spcPts val="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Второй кандидат</a:t>
            </a:r>
          </a:p>
          <a:p>
            <a:pPr>
              <a:spcAft>
                <a:spcPts val="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Работодатель не видит контакты других кандидатов из той же подборки.</a:t>
            </a:r>
          </a:p>
        </p:txBody>
      </p:sp>
      <p:sp>
        <p:nvSpPr>
          <p:cNvPr id="15" name="Oval 14"/>
          <p:cNvSpPr/>
          <p:nvPr/>
        </p:nvSpPr>
        <p:spPr>
          <a:xfrm>
            <a:off x="7376160" y="3712464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8536" y="3529584"/>
            <a:ext cx="358749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512064" tIns="182880" bIns="146304"/>
          <a:lstStyle/>
          <a:p>
            <a:pPr algn="l">
              <a:spcAft>
                <a:spcPts val="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Токены ИИ-клиентов</a:t>
            </a:r>
          </a:p>
          <a:p>
            <a:pPr>
              <a:spcAft>
                <a:spcPts val="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Персональный токен с областью read/write; доступ изолирован от REST-сессии.</a:t>
            </a:r>
          </a:p>
        </p:txBody>
      </p:sp>
      <p:sp>
        <p:nvSpPr>
          <p:cNvPr id="17" name="Oval 16"/>
          <p:cNvSpPr/>
          <p:nvPr/>
        </p:nvSpPr>
        <p:spPr>
          <a:xfrm>
            <a:off x="11173968" y="3712464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buNone/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ВАЛИДАЦИЯ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Тест: чем доказано 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209031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109728"/>
          <a:lstStyle/>
          <a:p>
            <a:pPr algn="ctr">
              <a:spcAft>
                <a:spcPts val="200"/>
              </a:spcAft>
              <a:buNone/>
              <a:defRPr sz="2600" b="1">
                <a:solidFill>
                  <a:srgbClr val="520978"/>
                </a:solidFill>
              </a:defRPr>
            </a:pPr>
            <a:r>
              <a:rPr sz="2600" b="1">
                <a:solidFill>
                  <a:srgbClr val="520978"/>
                </a:solidFill>
              </a:rPr>
              <a:t>162</a:t>
            </a:r>
          </a:p>
          <a:p>
            <a:pPr algn="ctr"/>
            <a:r>
              <a:rPr sz="1000">
                <a:solidFill>
                  <a:srgbClr val="5C6B7F"/>
                </a:solidFill>
                <a:latin typeface="Manrope"/>
              </a:rPr>
              <a:t>опубликованных заданий в банке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6118" y="1481328"/>
            <a:ext cx="209031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109728"/>
          <a:lstStyle/>
          <a:p>
            <a:pPr algn="ctr">
              <a:spcAft>
                <a:spcPts val="200"/>
              </a:spcAft>
              <a:buNone/>
              <a:defRPr sz="2600" b="1">
                <a:solidFill>
                  <a:srgbClr val="520978"/>
                </a:solidFill>
              </a:defRPr>
            </a:pPr>
            <a:r>
              <a:rPr sz="2600" b="1">
                <a:solidFill>
                  <a:srgbClr val="520978"/>
                </a:solidFill>
              </a:rPr>
              <a:t>9 / 9</a:t>
            </a:r>
          </a:p>
          <a:p>
            <a:pPr algn="ctr"/>
            <a:r>
              <a:rPr sz="1000">
                <a:solidFill>
                  <a:srgbClr val="5C6B7F"/>
                </a:solidFill>
                <a:latin typeface="Manrope"/>
              </a:rPr>
              <a:t>батарей содержат обе формы A и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9316" y="1481328"/>
            <a:ext cx="209031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109728"/>
          <a:lstStyle/>
          <a:p>
            <a:pPr algn="ctr">
              <a:spcAft>
                <a:spcPts val="200"/>
              </a:spcAft>
              <a:buNone/>
              <a:defRPr sz="2600" b="1">
                <a:solidFill>
                  <a:srgbClr val="520978"/>
                </a:solidFill>
              </a:defRPr>
            </a:pPr>
            <a:r>
              <a:rPr sz="2600" b="1">
                <a:solidFill>
                  <a:srgbClr val="520978"/>
                </a:solidFill>
              </a:rPr>
              <a:t>0.00</a:t>
            </a:r>
          </a:p>
          <a:p>
            <a:pPr algn="ctr"/>
            <a:r>
              <a:rPr sz="1000">
                <a:solidFill>
                  <a:srgbClr val="5C6B7F"/>
                </a:solidFill>
                <a:latin typeface="Manrope"/>
              </a:rPr>
              <a:t>Δ оценок форм A/B при пороге 0.15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2515" y="1481328"/>
            <a:ext cx="209031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109728"/>
          <a:lstStyle/>
          <a:p>
            <a:pPr algn="ctr">
              <a:spcAft>
                <a:spcPts val="200"/>
              </a:spcAft>
              <a:buNone/>
              <a:defRPr sz="2600" b="1">
                <a:solidFill>
                  <a:srgbClr val="520978"/>
                </a:solidFill>
              </a:defRPr>
            </a:pPr>
            <a:r>
              <a:rPr sz="2600" b="1">
                <a:solidFill>
                  <a:srgbClr val="520978"/>
                </a:solidFill>
              </a:rPr>
              <a:t>0.734</a:t>
            </a:r>
          </a:p>
          <a:p>
            <a:pPr algn="ctr"/>
            <a:r>
              <a:rPr sz="1000">
                <a:solidFill>
                  <a:srgbClr val="5C6B7F"/>
                </a:solidFill>
                <a:latin typeface="Manrope"/>
              </a:rPr>
              <a:t>сильный ответ подтверждён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95713" y="1481328"/>
            <a:ext cx="209031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 bIns="109728"/>
          <a:lstStyle/>
          <a:p>
            <a:pPr algn="ctr">
              <a:spcAft>
                <a:spcPts val="200"/>
              </a:spcAft>
              <a:buNone/>
              <a:defRPr sz="2600" b="1">
                <a:solidFill>
                  <a:srgbClr val="520978"/>
                </a:solidFill>
              </a:defRPr>
            </a:pPr>
            <a:r>
              <a:rPr sz="2600" b="1">
                <a:solidFill>
                  <a:srgbClr val="520978"/>
                </a:solidFill>
              </a:rPr>
              <a:t>0.000</a:t>
            </a:r>
          </a:p>
          <a:p>
            <a:pPr algn="ctr"/>
            <a:r>
              <a:rPr sz="1000">
                <a:solidFill>
                  <a:srgbClr val="5C6B7F"/>
                </a:solidFill>
                <a:latin typeface="Manrope"/>
              </a:rPr>
              <a:t>слабый ответ не подтверждён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10128"/>
            <a:ext cx="11183112" cy="9692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7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Как мерили</a:t>
            </a:r>
          </a:p>
          <a:p>
            <a:pPr>
              <a:spcAft>
                <a:spcPts val="700"/>
              </a:spcAft>
              <a:buNone/>
            </a:pPr>
            <a:r>
              <a:rPr sz="1100">
                <a:solidFill>
                  <a:srgbClr val="1C1D22"/>
                </a:solidFill>
                <a:latin typeface="Manrope"/>
              </a:rPr>
              <a:t>Шесть выдач в каждой из девяти ячеек: в каждой встретились обе формы. Регрессии ловят validate:assessment и validate:privacy, сквозной функциональный аудит даёт 41 проверку без сети.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80560"/>
            <a:ext cx="1118311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7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Почему это важно продукту</a:t>
            </a:r>
          </a:p>
          <a:p>
            <a:pPr>
              <a:spcAft>
                <a:spcPts val="700"/>
              </a:spcAft>
              <a:buNone/>
            </a:pPr>
            <a:r>
              <a:rPr sz="1100">
                <a:solidFill>
                  <a:srgbClr val="1C1D22"/>
                </a:solidFill>
                <a:latin typeface="Manrope"/>
              </a:rPr>
              <a:t>Банк заданий и параллельные формы дают категорию, которую нельзя переучить за вечер и нельзя «утечь» из прошлой сессии. Cutoff по грейду не даёт занизить сильного кандидата и не даёт провести слабого.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1000" b="1">
                <a:solidFill>
                  <a:srgbClr val="CFC8DC"/>
                </a:solidFill>
              </a:defRPr>
            </a:pPr>
            <a:r>
              <a:rPr sz="1000" b="1" spc="160">
                <a:solidFill>
                  <a:srgbClr val="CFC8DC"/>
                </a:solidFill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Итог, ограничения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276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HANDCHECK • ФСП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276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buNone/>
              <a:defRPr sz="900">
                <a:solidFill>
                  <a:srgbClr val="CFC8DC"/>
                </a:solidFill>
              </a:defRPr>
            </a:pPr>
            <a:r>
              <a:rPr sz="900">
                <a:solidFill>
                  <a:srgbClr val="CFC8DC"/>
                </a:solidFill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587496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8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Что работает сегодня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Подбор по категории: потребность → кандидаты с объяснением.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Категория только после теста, честная валидация форм A/B.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Приватность до согласия: контакты скрыты технически, а не только в тексте.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MCP-сервер: ИИ-клиенты работают с платформой без кода.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Живой прод на handcheck.baski.pro, деплой из 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0728" y="1481328"/>
            <a:ext cx="3587496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8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Честные ограничения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Один участник команды и один банк заданий на 9 ячеек.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Нет автогенерации PDF-профиля кандидата и периодических заданий.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Сетевой адаптер реестра ФСП описан как концепция, не как код.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OCR и импорт резюме сознательно не делаем.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Мобильная вёрстка проверена на 390 px, не на всём парке устройств.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8536" y="1481328"/>
            <a:ext cx="3587496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l">
              <a:spcAft>
                <a:spcPts val="8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Куда развиваем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Сетевой адаптер ФСП и верифицированный профиль достижений.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Короткие поддерживающие задания между батареями.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Автогенерация PDF-профиля кандидата с подтверждённой категорией.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Вакансии как необязательное расширение поверх потребности.</a:t>
            </a:r>
          </a:p>
          <a:p>
            <a:pPr>
              <a:spcAft>
                <a:spcPts val="800"/>
              </a:spcAft>
              <a:buNone/>
            </a:pPr>
            <a:r>
              <a:rPr sz="1050">
                <a:solidFill>
                  <a:srgbClr val="1C1D22"/>
                </a:solidFill>
                <a:latin typeface="Manrope"/>
              </a:rPr>
              <a:t>Расширение банка за пределы backend, frontend и QA.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577840"/>
            <a:ext cx="1118311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01168" tIns="182880" bIns="146304"/>
          <a:lstStyle/>
          <a:p>
            <a:pPr algn="ctr">
              <a:spcAft>
                <a:spcPts val="400"/>
              </a:spcAft>
              <a:defRPr sz="1050" b="1">
                <a:solidFill>
                  <a:srgbClr val="520978"/>
                </a:solidFill>
              </a:defRPr>
              <a:buNone/>
            </a:pPr>
            <a:r>
              <a:rPr sz="1050" b="1">
                <a:solidFill>
                  <a:srgbClr val="520978"/>
                </a:solidFill>
              </a:rPr>
              <a:t>handcheck.baski.pro · исходный код, документация и эта презентация — в приложении к проекту и в /downloads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