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9" r:id="rId13"/>
    <p:sldId id="372" r:id="rId14"/>
    <p:sldId id="373" r:id="rId15"/>
    <p:sldId id="370" r:id="rId16"/>
    <p:sldId id="371" r:id="rId17"/>
    <p:sldId id="374" r:id="rId18"/>
    <p:sldId id="260" r:id="rId19"/>
    <p:sldId id="261" r:id="rId20"/>
    <p:sldId id="262" r:id="rId21"/>
    <p:sldId id="263" r:id="rId22"/>
    <p:sldId id="266" r:id="rId23"/>
    <p:sldId id="264" r:id="rId24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test_score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Сильные ответы</c:v>
                </c:pt>
                <c:pt idx="1">
                  <c:v>Слабые ответы</c:v>
                </c:pt>
                <c:pt idx="2">
                  <c:v>Cutoff junior</c:v>
                </c:pt>
                <c:pt idx="3">
                  <c:v>Cutoff middle</c:v>
                </c:pt>
                <c:pt idx="4">
                  <c:v>Cutoff senior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0.734</c:v>
                </c:pt>
                <c:pt idx="1">
                  <c:v>0</c:v>
                </c:pt>
                <c:pt idx="2">
                  <c:v>0.55</c:v>
                </c:pt>
                <c:pt idx="3">
                  <c:v>0.68</c:v>
                </c:pt>
                <c:pt idx="4">
                  <c:v>0.78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Проверок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Sheet1!$A$2:$A$7</c:f>
              <c:strCache>
                <c:ptCount val="6"/>
                <c:pt idx="0">
                  <c:v>Регистрация</c:v>
                </c:pt>
                <c:pt idx="1">
                  <c:v>Тест и категория</c:v>
                </c:pt>
                <c:pt idx="2">
                  <c:v>Приватность</c:v>
                </c:pt>
                <c:pt idx="3">
                  <c:v>Потребность</c:v>
                </c:pt>
                <c:pt idx="4">
                  <c:v>Подбор и приглашения</c:v>
                </c:pt>
                <c:pt idx="5">
                  <c:v>Доп. функционал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7</c:v>
                </c:pt>
                <c:pt idx="2">
                  <c:v>2</c:v>
                </c:pt>
                <c:pt idx="3">
                  <c:v>3</c:v>
                </c:pt>
                <c:pt idx="4">
                  <c:v>13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Пункты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Sheet1!$A$2:$A$4</c:f>
              <c:strCache>
                <c:ptCount val="3"/>
                <c:pt idx="0">
                  <c:v>Реализовано и проверено</c:v>
                </c:pt>
                <c:pt idx="1">
                  <c:v>Желательно (не блокер)</c:v>
                </c:pt>
                <c:pt idx="2">
                  <c:v>Вне кода — концепция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spcAft>
                <a:spcPts val="400"/>
              </a:spcAft>
              <a:buNone/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HandCheck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rmAutofit lnSpcReduction="10000"/>
          </a:bodyPr>
          <a:lstStyle/>
          <a:p>
            <a:pPr marL="271463" indent="-3175">
              <a:spcAft>
                <a:spcPts val="400"/>
              </a:spcAft>
              <a:buNone/>
              <a:defRPr sz="1800">
                <a:solidFill>
                  <a:srgbClr val="FFD6E4"/>
                </a:solidFill>
              </a:defRPr>
            </a:pPr>
            <a:r>
              <a:rPr sz="1800">
                <a:solidFill>
                  <a:srgbClr val="FFD6E4"/>
                </a:solidFill>
              </a:rPr>
              <a:t>Категорию даёт тест. Приглашение даёт работодатель.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 wrap="square"/>
          <a:p>
            <a:pPr>
              <a:spcAft>
                <a:spcPts val="400"/>
              </a:spcAft>
              <a:buNone/>
              <a:defRPr sz="1200">
                <a:solidFill>
                  <a:srgbClr val="8A83D1"/>
                </a:solidFill>
              </a:defRPr>
            </a:pPr>
            <a:r>
              <a:rPr sz="1200">
                <a:solidFill>
                  <a:srgbClr val="8A83D1"/>
                </a:solidFill>
              </a:rPr>
              <a:t>[ фото команды ]</a:t>
            </a:r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Это не витрина вакансий и не отклики вслепую: выдача идёт по измеренной категории, а приглашение — осознанный шаг с обеих сторон.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Капитан: [ФИО, специальность]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Кол-во участников: [__] человек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Краткое описание: [место работы / учёбы участников]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Город и регион: [город]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200" b="1">
                <a:solidFill>
                  <a:srgbClr val="520978"/>
                </a:solidFill>
              </a:defRPr>
            </a:pPr>
            <a:r>
              <a:rPr sz="2200" b="1">
                <a:solidFill>
                  <a:srgbClr val="520978"/>
                </a:solidFill>
              </a:rPr>
              <a:t>Категорию даёт батарея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Соискатель проходит опрос и батарею — получает категорию «специализация × грейд». Работодатель ищет по категории и сам приглашает с вилкой ЗП. Контакты открываются только после согласия.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Команда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 wrap="square"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Краткая история команды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Рекрутинг для ИТ упирается в совпадение ключевых слов: резюме фиксирует стек, но не подтверждает навык. Мы строим площадку, где квалификацию проверяют, а не декларируют.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Каждое изменение проверяли автоматически: юнит-тесты, процедура валидации теста и подбора, плюс сквозной функциональный аудит из 41 проверки — на своём стенде и в читающем режиме на проде.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Самый сложный блок — устойчивость теста. Отказались от уникальной генерации под каждого кандидата: взяли банк заданий с двумя параллельными формами и cutoff по грейду, плюс серверные дедлайны и кулдаун пересдачи.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Node.js + Express + SQLite, статический UI без SPA-фреймворка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Банк из 162 заданий: 9 батарей (backend / frontend / QA × junior / middle / senior)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Серверные дедлайны, черновики, телеметрия попыток, cutoff 0.55 / 0.68 / 0.78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Подбор: категория → rank = 0.60·тест + 0.15·мотивация + 0.10·ФСП + 0.15·домен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LLM — только черновики заданий работодателю; оценка кандидата всегда по банку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Рекрутер перестаёт разбирать сотни анкет: получает готовую категорию с обоснованием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Кандидат не откликается вслепую — инициатива у работодателя, как в LHH / Hired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Участники соревновательного движения конвертируют навыки в оффер, а не в строчку резюме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Контакты скрыты до accept: меньше спама, выше вовлечённость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1. Опрос → специализация и заявленный грейд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2. Батарея: 8 коротких вопросов с дедлайном + мини-проект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3. Категория = специализация × грейд, если score ≥ cutoff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4. Работодатель → подборка → приглашение с вилкой → accept → контакты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  <a:defRPr sz="1000">
                <a:solidFill>
                  <a:srgbClr val="FFFFFF"/>
                </a:solidFill>
              </a:defRPr>
            </a:pPr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Как это работает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Категория «junior backend» сегодня значит что угодно: от «вчера написал hello world» до «полгода в продакшене».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Работодатель тратит время дорогих специалистов на ручной отбор анкет, кандидат откликается вслепую и не получает обратной связи.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Справочник специализаций и грейдов не формализован, поэтому релевантность выдачи низка у обеих сторон.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Универсальные площадки не умеют говорить с ИТ на профессиональном языке — и не могут подтвердить навык объективно.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Почему резюме не работает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Кабинет работодателя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Колода показывает по одному кандидату: категория, стек, опыт в домене потребности и обоснование «почему он здесь».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Контактов в карточке нет — они появятся только после принятия приглашения.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Решения «отложить» и «отказать» учитываются: повторное приглашение тому же кандидату система не предложит.</a:t>
            </a:r>
          </a:p>
        </p:txBody>
      </p:sp>
      <p:pic>
        <p:nvPicPr>
          <p:cNvPr id="10" name="Picture 9" descr="02-employer-d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17320"/>
            <a:ext cx="5760720" cy="3602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Сквозной сценарий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1. Регистрация → подтверждение email → согласие на обработку данных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2. Опрос: специализация и заявленный грейд → старт батареи (форма A или B)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3. Тест по шагам: серверный дедлайн, черновик, телеметрия → категория и cooldown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4. Работодатель: потребность → подборка по категории → приглашение с вилкой 120–180 тыс. 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5. Кандидат принимает → контакты раскрыты; отказ → статус declined у обеих сторон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Тест, устойчивый к утечкам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Банк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162 опубликованных задания в 9 батареях: backend / frontend / QA × junior / middle / senior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Две формы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В каждой ячейке формы A и B равноценны: Δ среднего балла на одинаковых ответах = 0.00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Cutoff по грейду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junior 0.55 · middle 0.68 · senior 0.78. Ниже порога — статус «не подтверждён», а не понижение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Дедлайны и кулдаун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Таймер считает сервер, ответ сохраняется черновиком, пересдача — раз в 30 дней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Категория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Специализация × грейд по результату батареи. Видна работодателю, подтверждена тестом, а не резюме.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Подборка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Потребность → категория → ранжированный список с объяснением. Фильтры по стеку и ФСП только сужают выдачу.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Приглашение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Работодатель сам зовёт с вилкой ЗП — вакансия не нужна. Контакты открываются после accept.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FF0053"/>
                </a:solidFill>
              </a:defRPr>
            </a:pPr>
            <a:r>
              <a:rPr sz="1400" b="1">
                <a:solidFill>
                  <a:srgbClr val="FF0053"/>
                </a:solidFill>
              </a:rPr>
              <a:t>Обратная механика подбора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Приватность как механика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Согласие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Обязательно при регистрации и при старте батареи, с текстом 152-ФЗ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Контакты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До accept в API работодателя нет phone и contact_email — 403 и пустые поля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Оценка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Балл теста и метрики честности не отдаются кандидату и работодателю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Роли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Кандидат не видит employer-API, работодатель — приватные поля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ИИ-клиенты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Токен MCP с согласием, аудит вызовов и отзыв токена; на REST токен не действует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Сквозные тесты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validate:privacy проверяет «invite sent → контактов нет, accept → контакты есть»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Кабинет кандидата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Статус категории и приглашения — на одном экране.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После accept открывается короткий тест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работодателя и комната звонка с записью.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1" name="Picture 10" descr="08-candidate-today.png"/>
          <p:cNvPicPr>
            <a:picLocks noChangeAspect="1"/>
          </p:cNvPicPr>
          <p:nvPr/>
        </p:nvPicPr>
        <p:blipFill>
          <a:blip r:embed="rId3"/>
          <a:srcRect l="5882" r="5882"/>
          <a:stretch>
            <a:fillRect/>
          </a:stretch>
        </p:blipFill>
        <p:spPr>
          <a:xfrm>
            <a:off x="7406640" y="1005840"/>
            <a:ext cx="4389120" cy="3108960"/>
          </a:xfrm>
          <a:prstGeom prst="rect">
            <a:avLst/>
          </a:prstGeom>
        </p:spPr>
      </p:pic>
      <p:pic>
        <p:nvPicPr>
          <p:cNvPr id="12" name="Picture 11" descr="09-candidate-invitations.png"/>
          <p:cNvPicPr>
            <a:picLocks noChangeAspect="1"/>
          </p:cNvPicPr>
          <p:nvPr/>
        </p:nvPicPr>
        <p:blipFill>
          <a:blip r:embed="rId4"/>
          <a:srcRect t="16667" b="16667"/>
          <a:stretch>
            <a:fillRect/>
          </a:stretch>
        </p:blipFill>
        <p:spPr>
          <a:xfrm>
            <a:off x="7406640" y="4389120"/>
            <a:ext cx="4389120" cy="1828800"/>
          </a:xfrm>
          <a:prstGeom prst="rect">
            <a:avLst/>
          </a:prstGeom>
        </p:spPr>
      </p:pic>
      <p:pic>
        <p:nvPicPr>
          <p:cNvPr id="13" name="Picture 12" descr="10-candidate-tasks.png"/>
          <p:cNvPicPr>
            <a:picLocks noChangeAspect="1"/>
          </p:cNvPicPr>
          <p:nvPr/>
        </p:nvPicPr>
        <p:blipFill>
          <a:blip r:embed="rId5"/>
          <a:srcRect t="14324" b="14324"/>
          <a:stretch>
            <a:fillRect/>
          </a:stretch>
        </p:blipFill>
        <p:spPr>
          <a:xfrm>
            <a:off x="365760" y="3200400"/>
            <a:ext cx="676656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Архитектура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Модульный монолит: 17 доменных модулей, общий createApp() и одна SQLite в томе.</a:t>
            </a:r>
            <a:endParaRPr lang="ru-RU" sz="3600" b="1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Фронтенд — серверные страницы и статический JS без SPA-фреймворка: демо воспроизводится одной командой docker compose up.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Каждое изменение проверяется скриптами: unit-тесты, процедура валидации и сквозной функциональный аудит.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auth · candidates · employers — регистрация, профили, роли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assessment + tasks — батарея, формы A/B, cutoff, телеметрия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matching · deck — категория → подборка → решения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invitations — вилка ЗП, статусы, раскрытие контактов по accept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calls · employer-tests · mcp — записи, короткие тесты, ИИ-клиенты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Валидация теста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Порог подтверждения категории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Сильные ответы 0.73 проходят cutoff middle 0.68, слабые 0.00 — нет.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Эквивалентность форм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 и B на одинаковых ответах дают Δ = 0.00 при пороге 0.15.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Устойчивость к утечкам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9 из 9 ячеек выдали обе формы за 6 выдач — задания не повторяются подряд.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Что проверяется автоматически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Функциональный аудит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41 проверка на стенде: регистрация → батарея → категория → подборка → приглашение → контакты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Прод-режим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8 читающих проверок на развёрнутом стенде без записи в базу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Качество теста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cutoff-тесты, эквивалентность форм, устойчивость к утечкам, отсутствие утечки баллов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Приватность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Покрытие ТЗ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23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Механика подбора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need → match → invite → accept → раскрытие контактов — 10 из 10 пунктов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Тест и категории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опрос, формы, cutoff, кулдаун, пересдача — 8 из 8 пунктов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Не блокер MVP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вакансии с откликом и разбор PDF-резюме — честно не сделаны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Вне кода</a:t>
            </a:r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C31B756F-C29B-4275-9301-AD86FC9C7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0877612"/>
              </p:ext>
            </p:extLst>
          </p:nvPr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Итог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Что работает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Категория по тесту, инициатива работодателя, контакты только по согласию. 41 автопроверка и читающий аудит на проде.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Честные ограничения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Вакансии и PDF-разбор не сделаны — это «желательно» в ТЗ. Реестр ФСП не имеет открытого API, предусмотрен кейс без истории ФСП.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Демо и код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Прототип: handcheck.baski.pro · код: github.com/BaskovKonstantin/handcheck · документация и аудит — в репозитории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